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Aptos Bold" charset="1" panose="020B0004020202020204"/>
      <p:regular r:id="rId12"/>
    </p:embeddedFont>
    <p:embeddedFont>
      <p:font typeface="Garamond Bold" charset="1" panose="02020804030307010803"/>
      <p:regular r:id="rId13"/>
    </p:embeddedFont>
    <p:embeddedFont>
      <p:font typeface="Arimo Bold" charset="1" panose="020B0704020202020204"/>
      <p:regular r:id="rId14"/>
    </p:embeddedFont>
    <p:embeddedFont>
      <p:font typeface="Arimo" charset="1" panose="020B0604020202020204"/>
      <p:regular r:id="rId15"/>
    </p:embeddedFont>
    <p:embeddedFont>
      <p:font typeface="Aptos" charset="1" panose="020B0004020202020204"/>
      <p:regular r:id="rId16"/>
    </p:embeddedFont>
    <p:embeddedFont>
      <p:font typeface="Canva Sans Bold" charset="1" panose="020B0803030501040103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85165" y="1277283"/>
            <a:ext cx="6957908" cy="7732452"/>
          </a:xfrm>
          <a:custGeom>
            <a:avLst/>
            <a:gdLst/>
            <a:ahLst/>
            <a:cxnLst/>
            <a:rect r="r" b="b" t="t" l="l"/>
            <a:pathLst>
              <a:path h="7732452" w="6957908">
                <a:moveTo>
                  <a:pt x="0" y="0"/>
                </a:moveTo>
                <a:lnTo>
                  <a:pt x="6957908" y="0"/>
                </a:lnTo>
                <a:lnTo>
                  <a:pt x="6957908" y="7732453"/>
                </a:lnTo>
                <a:lnTo>
                  <a:pt x="0" y="77324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2333" y="2573817"/>
            <a:ext cx="4805267" cy="5139357"/>
            <a:chOff x="0" y="0"/>
            <a:chExt cx="6407023" cy="68524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07023" cy="6852412"/>
            </a:xfrm>
            <a:custGeom>
              <a:avLst/>
              <a:gdLst/>
              <a:ahLst/>
              <a:cxnLst/>
              <a:rect r="r" b="b" t="t" l="l"/>
              <a:pathLst>
                <a:path h="6852412" w="6407023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49475" b="-1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868529" y="541525"/>
            <a:ext cx="12801600" cy="3060297"/>
            <a:chOff x="0" y="0"/>
            <a:chExt cx="17068800" cy="408039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068800" cy="4080398"/>
            </a:xfrm>
            <a:custGeom>
              <a:avLst/>
              <a:gdLst/>
              <a:ahLst/>
              <a:cxnLst/>
              <a:rect r="r" b="b" t="t" l="l"/>
              <a:pathLst>
                <a:path h="4080398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4080398"/>
                  </a:lnTo>
                  <a:lnTo>
                    <a:pt x="0" y="408039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1508" r="0" b="-3150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7068800" cy="40803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14365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AGROVON 3.0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96929" y="-790137"/>
            <a:ext cx="15544800" cy="3114675"/>
            <a:chOff x="0" y="0"/>
            <a:chExt cx="20726400" cy="41529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726400" cy="4152900"/>
            </a:xfrm>
            <a:custGeom>
              <a:avLst/>
              <a:gdLst/>
              <a:ahLst/>
              <a:cxnLst/>
              <a:rect r="r" b="b" t="t" l="l"/>
              <a:pathLst>
                <a:path h="41529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246" r="0" b="-4724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626591" y="186547"/>
            <a:ext cx="3525955" cy="1684306"/>
            <a:chOff x="0" y="0"/>
            <a:chExt cx="4701273" cy="224574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701233" cy="2245741"/>
            </a:xfrm>
            <a:custGeom>
              <a:avLst/>
              <a:gdLst/>
              <a:ahLst/>
              <a:cxnLst/>
              <a:rect r="r" b="b" t="t" l="l"/>
              <a:pathLst>
                <a:path h="2245741" w="4701233">
                  <a:moveTo>
                    <a:pt x="0" y="0"/>
                  </a:moveTo>
                  <a:lnTo>
                    <a:pt x="4701233" y="0"/>
                  </a:lnTo>
                  <a:lnTo>
                    <a:pt x="470123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362" t="0" r="-362" b="0"/>
              </a:stretch>
            </a:blipFill>
          </p:spPr>
        </p:sp>
      </p:grpSp>
      <p:sp>
        <p:nvSpPr>
          <p:cNvPr name="AutoShape 13" id="13"/>
          <p:cNvSpPr/>
          <p:nvPr/>
        </p:nvSpPr>
        <p:spPr>
          <a:xfrm rot="222900">
            <a:off x="14039231" y="4763643"/>
            <a:ext cx="587978" cy="0"/>
          </a:xfrm>
          <a:prstGeom prst="line">
            <a:avLst/>
          </a:prstGeom>
          <a:ln cap="rnd" w="19050">
            <a:solidFill>
              <a:srgbClr val="E87D2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321922" y="2324538"/>
            <a:ext cx="8822078" cy="7254911"/>
            <a:chOff x="0" y="0"/>
            <a:chExt cx="9724071" cy="799667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724071" cy="7996652"/>
            </a:xfrm>
            <a:custGeom>
              <a:avLst/>
              <a:gdLst/>
              <a:ahLst/>
              <a:cxnLst/>
              <a:rect r="r" b="b" t="t" l="l"/>
              <a:pathLst>
                <a:path h="7996652" w="9724071">
                  <a:moveTo>
                    <a:pt x="0" y="0"/>
                  </a:moveTo>
                  <a:lnTo>
                    <a:pt x="9724071" y="0"/>
                  </a:lnTo>
                  <a:lnTo>
                    <a:pt x="9724071" y="7996652"/>
                  </a:lnTo>
                  <a:lnTo>
                    <a:pt x="0" y="79966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0009" r="-125683" b="4306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9724071" cy="79966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3119"/>
                </a:lnSpc>
              </a:pPr>
            </a:p>
            <a:p>
              <a:pPr algn="just">
                <a:lnSpc>
                  <a:spcPts val="3959"/>
                </a:lnSpc>
              </a:pPr>
              <a:r>
                <a:rPr lang="en-US" sz="3299" b="true">
                  <a:solidFill>
                    <a:srgbClr val="14365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• Probl</a:t>
              </a:r>
              <a:r>
                <a:rPr lang="en-US" sz="3299" b="true">
                  <a:solidFill>
                    <a:srgbClr val="14365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em Statement ID – SIH26180</a:t>
              </a:r>
            </a:p>
            <a:p>
              <a:pPr algn="just">
                <a:lnSpc>
                  <a:spcPts val="3959"/>
                </a:lnSpc>
              </a:pPr>
            </a:p>
            <a:p>
              <a:pPr algn="just">
                <a:lnSpc>
                  <a:spcPts val="3959"/>
                </a:lnSpc>
              </a:pPr>
              <a:r>
                <a:rPr lang="en-US" sz="3299" b="true">
                  <a:solidFill>
                    <a:srgbClr val="14365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• Problem Statement Title - A field-deployable              AI-powered Smart Farming Assistant</a:t>
              </a:r>
            </a:p>
            <a:p>
              <a:pPr algn="just">
                <a:lnSpc>
                  <a:spcPts val="3959"/>
                </a:lnSpc>
              </a:pPr>
            </a:p>
            <a:p>
              <a:pPr algn="just">
                <a:lnSpc>
                  <a:spcPts val="3959"/>
                </a:lnSpc>
              </a:pPr>
              <a:r>
                <a:rPr lang="en-US" sz="3299" b="true">
                  <a:solidFill>
                    <a:srgbClr val="14365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• Theme-Disaster Management</a:t>
              </a:r>
            </a:p>
            <a:p>
              <a:pPr algn="just">
                <a:lnSpc>
                  <a:spcPts val="3959"/>
                </a:lnSpc>
              </a:pPr>
            </a:p>
            <a:p>
              <a:pPr algn="just">
                <a:lnSpc>
                  <a:spcPts val="3959"/>
                </a:lnSpc>
              </a:pPr>
              <a:r>
                <a:rPr lang="en-US" sz="3299" b="true">
                  <a:solidFill>
                    <a:srgbClr val="14365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• PS Category- Hardware</a:t>
              </a:r>
            </a:p>
            <a:p>
              <a:pPr algn="just">
                <a:lnSpc>
                  <a:spcPts val="3959"/>
                </a:lnSpc>
              </a:pPr>
            </a:p>
            <a:p>
              <a:pPr algn="just">
                <a:lnSpc>
                  <a:spcPts val="3959"/>
                </a:lnSpc>
              </a:pPr>
              <a:r>
                <a:rPr lang="en-US" sz="3299" b="true">
                  <a:solidFill>
                    <a:srgbClr val="14365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• Team ID-GLAH8</a:t>
              </a:r>
            </a:p>
            <a:p>
              <a:pPr algn="just">
                <a:lnSpc>
                  <a:spcPts val="3959"/>
                </a:lnSpc>
              </a:pPr>
            </a:p>
            <a:p>
              <a:pPr algn="just">
                <a:lnSpc>
                  <a:spcPts val="3959"/>
                </a:lnSpc>
              </a:pPr>
              <a:r>
                <a:rPr lang="en-US" sz="3299" b="true">
                  <a:solidFill>
                    <a:srgbClr val="14365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• Team Name - Code Verse </a:t>
              </a:r>
            </a:p>
            <a:p>
              <a:pPr algn="just">
                <a:lnSpc>
                  <a:spcPts val="3959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784962" y="1887820"/>
            <a:ext cx="10718077" cy="1116466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21945600" cy="2286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14365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AgroVON - Offline Edge AI &amp; ESP-NOW Smart Farming Intranet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573193" y="186547"/>
            <a:ext cx="3525955" cy="1684306"/>
            <a:chOff x="0" y="0"/>
            <a:chExt cx="4701273" cy="224574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701233" cy="2245741"/>
            </a:xfrm>
            <a:custGeom>
              <a:avLst/>
              <a:gdLst/>
              <a:ahLst/>
              <a:cxnLst/>
              <a:rect r="r" b="b" t="t" l="l"/>
              <a:pathLst>
                <a:path h="2245741" w="4701233">
                  <a:moveTo>
                    <a:pt x="0" y="0"/>
                  </a:moveTo>
                  <a:lnTo>
                    <a:pt x="4701233" y="0"/>
                  </a:lnTo>
                  <a:lnTo>
                    <a:pt x="470123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2" t="0" r="-362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82015" y="3411493"/>
            <a:ext cx="5093970" cy="5846807"/>
            <a:chOff x="0" y="0"/>
            <a:chExt cx="6791960" cy="779574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791960" cy="7795743"/>
            </a:xfrm>
            <a:custGeom>
              <a:avLst/>
              <a:gdLst/>
              <a:ahLst/>
              <a:cxnLst/>
              <a:rect r="r" b="b" t="t" l="l"/>
              <a:pathLst>
                <a:path h="7795743" w="6791960">
                  <a:moveTo>
                    <a:pt x="0" y="1299121"/>
                  </a:moveTo>
                  <a:cubicBezTo>
                    <a:pt x="0" y="581628"/>
                    <a:pt x="145161" y="0"/>
                    <a:pt x="324231" y="0"/>
                  </a:cubicBezTo>
                  <a:lnTo>
                    <a:pt x="6467729" y="0"/>
                  </a:lnTo>
                  <a:cubicBezTo>
                    <a:pt x="6646799" y="0"/>
                    <a:pt x="6791960" y="581628"/>
                    <a:pt x="6791960" y="1299121"/>
                  </a:cubicBezTo>
                  <a:lnTo>
                    <a:pt x="6791960" y="6496622"/>
                  </a:lnTo>
                  <a:cubicBezTo>
                    <a:pt x="6791960" y="7214115"/>
                    <a:pt x="6646799" y="7795743"/>
                    <a:pt x="6467729" y="7795743"/>
                  </a:cubicBezTo>
                  <a:lnTo>
                    <a:pt x="324231" y="7795743"/>
                  </a:lnTo>
                  <a:cubicBezTo>
                    <a:pt x="145161" y="7795743"/>
                    <a:pt x="0" y="7214115"/>
                    <a:pt x="0" y="6496622"/>
                  </a:cubicBezTo>
                  <a:close/>
                </a:path>
              </a:pathLst>
            </a:custGeom>
            <a:solidFill>
              <a:srgbClr val="F1F9F4"/>
            </a:solidFill>
            <a:ln w="19050" cap="sq">
              <a:solidFill>
                <a:srgbClr val="238252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250872" y="3366237"/>
            <a:ext cx="4457700" cy="1333487"/>
            <a:chOff x="0" y="0"/>
            <a:chExt cx="5943600" cy="177798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943600" cy="1777982"/>
            </a:xfrm>
            <a:custGeom>
              <a:avLst/>
              <a:gdLst/>
              <a:ahLst/>
              <a:cxnLst/>
              <a:rect r="r" b="b" t="t" l="l"/>
              <a:pathLst>
                <a:path h="1777982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777982"/>
                  </a:lnTo>
                  <a:lnTo>
                    <a:pt x="0" y="177798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9707" r="0" b="19434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9525"/>
              <a:ext cx="5943600" cy="17684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238252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IDEA /</a:t>
              </a:r>
              <a:r>
                <a:rPr lang="en-US" sz="3200" b="true">
                  <a:solidFill>
                    <a:srgbClr val="238252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SOLUTION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38030" y="4244764"/>
            <a:ext cx="5370195" cy="5563605"/>
            <a:chOff x="0" y="0"/>
            <a:chExt cx="7160260" cy="74181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160260" cy="7418139"/>
            </a:xfrm>
            <a:custGeom>
              <a:avLst/>
              <a:gdLst/>
              <a:ahLst/>
              <a:cxnLst/>
              <a:rect r="r" b="b" t="t" l="l"/>
              <a:pathLst>
                <a:path h="7418139" w="7160260">
                  <a:moveTo>
                    <a:pt x="0" y="0"/>
                  </a:moveTo>
                  <a:lnTo>
                    <a:pt x="7160260" y="0"/>
                  </a:lnTo>
                  <a:lnTo>
                    <a:pt x="7160260" y="7418139"/>
                  </a:lnTo>
                  <a:lnTo>
                    <a:pt x="0" y="741813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94" r="18268" b="7945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7160260" cy="7418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61341" indent="-280670" lvl="1">
                <a:lnSpc>
                  <a:spcPts val="3120"/>
                </a:lnSpc>
                <a:buFont typeface="Arial"/>
                <a:buChar char="•"/>
              </a:pPr>
              <a:r>
                <a:rPr lang="en-US" sz="2600">
                  <a:solidFill>
                    <a:srgbClr val="232A30"/>
                  </a:solidFill>
                  <a:latin typeface="Aptos"/>
                  <a:ea typeface="Aptos"/>
                  <a:cs typeface="Aptos"/>
                  <a:sym typeface="Aptos"/>
                </a:rPr>
                <a:t>Edge-</a:t>
              </a:r>
              <a:r>
                <a:rPr lang="en-US" sz="2600">
                  <a:solidFill>
                    <a:srgbClr val="232A30"/>
                  </a:solidFill>
                  <a:latin typeface="Aptos"/>
                  <a:ea typeface="Aptos"/>
                  <a:cs typeface="Aptos"/>
                  <a:sym typeface="Aptos"/>
                </a:rPr>
                <a:t>AI IoT Ecosystem: A decentralized smart farming system bridging ESP32 hardware sensors with a Raspberry Pi 5 edge hub.</a:t>
              </a:r>
            </a:p>
            <a:p>
              <a:pPr algn="l" marL="561341" indent="-280670" lvl="1">
                <a:lnSpc>
                  <a:spcPts val="3120"/>
                </a:lnSpc>
                <a:buFont typeface="Arial"/>
                <a:buChar char="•"/>
              </a:pPr>
              <a:r>
                <a:rPr lang="en-US" sz="2600">
                  <a:solidFill>
                    <a:srgbClr val="232A30"/>
                  </a:solidFill>
                  <a:latin typeface="Aptos"/>
                  <a:ea typeface="Aptos"/>
                  <a:cs typeface="Aptos"/>
                  <a:sym typeface="Aptos"/>
                </a:rPr>
                <a:t>Local AI Inference: Runs a custom YOLOv8 model entirely on-device for real-time plant disease detection and soil monitoring via a React Native app.</a:t>
              </a:r>
            </a:p>
            <a:p>
              <a:pPr algn="l">
                <a:lnSpc>
                  <a:spcPts val="312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295150" y="3411493"/>
            <a:ext cx="5395835" cy="5846807"/>
            <a:chOff x="0" y="0"/>
            <a:chExt cx="6791960" cy="735961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791960" cy="7359617"/>
            </a:xfrm>
            <a:custGeom>
              <a:avLst/>
              <a:gdLst/>
              <a:ahLst/>
              <a:cxnLst/>
              <a:rect r="r" b="b" t="t" l="l"/>
              <a:pathLst>
                <a:path h="7359617" w="6791960">
                  <a:moveTo>
                    <a:pt x="0" y="1226443"/>
                  </a:moveTo>
                  <a:cubicBezTo>
                    <a:pt x="0" y="549089"/>
                    <a:pt x="145161" y="0"/>
                    <a:pt x="324231" y="0"/>
                  </a:cubicBezTo>
                  <a:lnTo>
                    <a:pt x="6467729" y="0"/>
                  </a:lnTo>
                  <a:cubicBezTo>
                    <a:pt x="6646799" y="0"/>
                    <a:pt x="6791960" y="549089"/>
                    <a:pt x="6791960" y="1226443"/>
                  </a:cubicBezTo>
                  <a:lnTo>
                    <a:pt x="6791960" y="6133174"/>
                  </a:lnTo>
                  <a:cubicBezTo>
                    <a:pt x="6791960" y="6810528"/>
                    <a:pt x="6646799" y="7359617"/>
                    <a:pt x="6467729" y="7359617"/>
                  </a:cubicBezTo>
                  <a:lnTo>
                    <a:pt x="324231" y="7359617"/>
                  </a:lnTo>
                  <a:cubicBezTo>
                    <a:pt x="145161" y="7359617"/>
                    <a:pt x="0" y="6810528"/>
                    <a:pt x="0" y="6133174"/>
                  </a:cubicBezTo>
                  <a:close/>
                </a:path>
              </a:pathLst>
            </a:custGeom>
            <a:solidFill>
              <a:srgbClr val="F1F9F4"/>
            </a:solidFill>
            <a:ln w="19050" cap="sq">
              <a:solidFill>
                <a:srgbClr val="238252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6657022" y="3609706"/>
            <a:ext cx="4932783" cy="1090017"/>
            <a:chOff x="0" y="0"/>
            <a:chExt cx="6577044" cy="145335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577044" cy="1453356"/>
            </a:xfrm>
            <a:custGeom>
              <a:avLst/>
              <a:gdLst/>
              <a:ahLst/>
              <a:cxnLst/>
              <a:rect r="r" b="b" t="t" l="l"/>
              <a:pathLst>
                <a:path h="1453356" w="6577044">
                  <a:moveTo>
                    <a:pt x="0" y="0"/>
                  </a:moveTo>
                  <a:lnTo>
                    <a:pt x="6577044" y="0"/>
                  </a:lnTo>
                  <a:lnTo>
                    <a:pt x="6577044" y="1453356"/>
                  </a:lnTo>
                  <a:lnTo>
                    <a:pt x="0" y="14533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0810" r="9631" b="1439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9525"/>
              <a:ext cx="6577044" cy="14438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1474BE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Problem Resolution</a:t>
              </a:r>
            </a:p>
            <a:p>
              <a:pPr algn="l">
                <a:lnSpc>
                  <a:spcPts val="3840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295150" y="3432517"/>
            <a:ext cx="5327175" cy="5804760"/>
            <a:chOff x="0" y="0"/>
            <a:chExt cx="7102900" cy="773967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102901" cy="7739680"/>
            </a:xfrm>
            <a:custGeom>
              <a:avLst/>
              <a:gdLst/>
              <a:ahLst/>
              <a:cxnLst/>
              <a:rect r="r" b="b" t="t" l="l"/>
              <a:pathLst>
                <a:path h="7739680" w="7102901">
                  <a:moveTo>
                    <a:pt x="0" y="0"/>
                  </a:moveTo>
                  <a:lnTo>
                    <a:pt x="7102901" y="0"/>
                  </a:lnTo>
                  <a:lnTo>
                    <a:pt x="7102901" y="7739680"/>
                  </a:lnTo>
                  <a:lnTo>
                    <a:pt x="0" y="7739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771" r="17608" b="80304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7102900" cy="77396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</a:p>
            <a:p>
              <a:pPr algn="l" marL="561341" indent="-280670" lvl="1">
                <a:lnSpc>
                  <a:spcPts val="3120"/>
                </a:lnSpc>
                <a:buFont typeface="Arial"/>
                <a:buChar char="•"/>
              </a:pPr>
              <a:r>
                <a:rPr lang="en-US" sz="2600">
                  <a:solidFill>
                    <a:srgbClr val="232A30"/>
                  </a:solidFill>
                  <a:latin typeface="Aptos"/>
                  <a:ea typeface="Aptos"/>
                  <a:cs typeface="Aptos"/>
                  <a:sym typeface="Aptos"/>
                </a:rPr>
                <a:t>Bypasses Poor Connectivity: Processes heavy video locally on the edge, requiring zero cloud internet.</a:t>
              </a:r>
            </a:p>
            <a:p>
              <a:pPr algn="l" marL="561341" indent="-280670" lvl="1">
                <a:lnSpc>
                  <a:spcPts val="3120"/>
                </a:lnSpc>
                <a:buFont typeface="Arial"/>
                <a:buChar char="•"/>
              </a:pPr>
              <a:r>
                <a:rPr lang="en-US" sz="2600">
                  <a:solidFill>
                    <a:srgbClr val="232A30"/>
                  </a:solidFill>
                  <a:latin typeface="Aptos"/>
                  <a:ea typeface="Aptos"/>
                  <a:cs typeface="Aptos"/>
                  <a:sym typeface="Aptos"/>
                </a:rPr>
                <a:t>Proactive Management: Merges soil sensors and AI vision to detect threats before yield loss.</a:t>
              </a:r>
            </a:p>
            <a:p>
              <a:pPr algn="l" marL="561341" indent="-280670" lvl="1">
                <a:lnSpc>
                  <a:spcPts val="3120"/>
                </a:lnSpc>
                <a:buFont typeface="Arial"/>
                <a:buChar char="•"/>
              </a:pPr>
              <a:r>
                <a:rPr lang="en-US" sz="2600">
                  <a:solidFill>
                    <a:srgbClr val="232A30"/>
                  </a:solidFill>
                  <a:latin typeface="Aptos"/>
                  <a:ea typeface="Aptos"/>
                  <a:cs typeface="Aptos"/>
                  <a:sym typeface="Aptos"/>
                </a:rPr>
                <a:t>Unified Interface: Consolidates all hardware and AI diagnostics into a single dashboard.</a:t>
              </a:r>
            </a:p>
            <a:p>
              <a:pPr algn="l">
                <a:lnSpc>
                  <a:spcPts val="312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014835" y="3476828"/>
            <a:ext cx="6084313" cy="5830424"/>
            <a:chOff x="0" y="0"/>
            <a:chExt cx="8112417" cy="777389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12417" cy="7773898"/>
            </a:xfrm>
            <a:custGeom>
              <a:avLst/>
              <a:gdLst/>
              <a:ahLst/>
              <a:cxnLst/>
              <a:rect r="r" b="b" t="t" l="l"/>
              <a:pathLst>
                <a:path h="7773898" w="8112417">
                  <a:moveTo>
                    <a:pt x="0" y="1295481"/>
                  </a:moveTo>
                  <a:cubicBezTo>
                    <a:pt x="0" y="579998"/>
                    <a:pt x="173382" y="0"/>
                    <a:pt x="387266" y="0"/>
                  </a:cubicBezTo>
                  <a:lnTo>
                    <a:pt x="7725151" y="0"/>
                  </a:lnTo>
                  <a:cubicBezTo>
                    <a:pt x="7939035" y="0"/>
                    <a:pt x="8112417" y="579998"/>
                    <a:pt x="8112417" y="1295481"/>
                  </a:cubicBezTo>
                  <a:lnTo>
                    <a:pt x="8112417" y="6478418"/>
                  </a:lnTo>
                  <a:cubicBezTo>
                    <a:pt x="8112417" y="7193901"/>
                    <a:pt x="7939035" y="7773898"/>
                    <a:pt x="7725151" y="7773898"/>
                  </a:cubicBezTo>
                  <a:lnTo>
                    <a:pt x="387266" y="7773898"/>
                  </a:lnTo>
                  <a:cubicBezTo>
                    <a:pt x="173382" y="7773898"/>
                    <a:pt x="0" y="7193901"/>
                    <a:pt x="0" y="6478418"/>
                  </a:cubicBezTo>
                  <a:close/>
                </a:path>
              </a:pathLst>
            </a:custGeom>
            <a:solidFill>
              <a:srgbClr val="F1F9F4"/>
            </a:solidFill>
            <a:ln w="19050" cap="sq">
              <a:solidFill>
                <a:srgbClr val="238252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2281535" y="3699253"/>
            <a:ext cx="5252847" cy="545511"/>
            <a:chOff x="0" y="0"/>
            <a:chExt cx="7003796" cy="72734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003796" cy="727348"/>
            </a:xfrm>
            <a:custGeom>
              <a:avLst/>
              <a:gdLst/>
              <a:ahLst/>
              <a:cxnLst/>
              <a:rect r="r" b="b" t="t" l="l"/>
              <a:pathLst>
                <a:path h="727348" w="7003796">
                  <a:moveTo>
                    <a:pt x="0" y="0"/>
                  </a:moveTo>
                  <a:lnTo>
                    <a:pt x="7003796" y="0"/>
                  </a:lnTo>
                  <a:lnTo>
                    <a:pt x="7003796" y="727348"/>
                  </a:lnTo>
                  <a:lnTo>
                    <a:pt x="0" y="7273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1508" r="15137" b="-96939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9525"/>
              <a:ext cx="7003796" cy="717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79"/>
                </a:lnSpc>
              </a:pPr>
              <a:r>
                <a:rPr lang="en-US" sz="2899" b="true">
                  <a:solidFill>
                    <a:srgbClr val="694C9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   </a:t>
              </a:r>
              <a:r>
                <a:rPr lang="en-US" sz="2899" b="true">
                  <a:solidFill>
                    <a:srgbClr val="694C9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Unique Value Proposition 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1968801" y="3980285"/>
            <a:ext cx="6206547" cy="5664808"/>
            <a:chOff x="0" y="0"/>
            <a:chExt cx="8275396" cy="7553077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275396" cy="7553077"/>
            </a:xfrm>
            <a:custGeom>
              <a:avLst/>
              <a:gdLst/>
              <a:ahLst/>
              <a:cxnLst/>
              <a:rect r="r" b="b" t="t" l="l"/>
              <a:pathLst>
                <a:path h="7553077" w="8275396">
                  <a:moveTo>
                    <a:pt x="0" y="0"/>
                  </a:moveTo>
                  <a:lnTo>
                    <a:pt x="8275396" y="0"/>
                  </a:lnTo>
                  <a:lnTo>
                    <a:pt x="8275396" y="7553077"/>
                  </a:lnTo>
                  <a:lnTo>
                    <a:pt x="0" y="755307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012" r="29282" b="79818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8275396" cy="75530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61341" indent="-280670" lvl="1">
                <a:lnSpc>
                  <a:spcPts val="3120"/>
                </a:lnSpc>
                <a:buFont typeface="Arial"/>
                <a:buChar char="•"/>
              </a:pPr>
              <a:r>
                <a:rPr lang="en-US" sz="2600">
                  <a:solidFill>
                    <a:srgbClr val="232A30"/>
                  </a:solidFill>
                  <a:latin typeface="Aptos"/>
                  <a:ea typeface="Aptos"/>
                  <a:cs typeface="Aptos"/>
                  <a:sym typeface="Aptos"/>
                </a:rPr>
                <a:t>Zero-Cloud Architecture: Eliminates expensive cloud computing costs and ensures complete farm data privacy.</a:t>
              </a:r>
            </a:p>
            <a:p>
              <a:pPr algn="l" marL="561341" indent="-280670" lvl="1">
                <a:lnSpc>
                  <a:spcPts val="3120"/>
                </a:lnSpc>
                <a:buFont typeface="Arial"/>
                <a:buChar char="•"/>
              </a:pPr>
              <a:r>
                <a:rPr lang="en-US" sz="2600">
                  <a:solidFill>
                    <a:srgbClr val="232A30"/>
                  </a:solidFill>
                  <a:latin typeface="Aptos"/>
                  <a:ea typeface="Aptos"/>
                  <a:cs typeface="Aptos"/>
                  <a:sym typeface="Aptos"/>
                </a:rPr>
                <a:t>Ultra-Low-Cost Scalability: Us</a:t>
              </a:r>
              <a:r>
                <a:rPr lang="en-US" sz="2600">
                  <a:solidFill>
                    <a:srgbClr val="232A30"/>
                  </a:solidFill>
                  <a:latin typeface="Aptos"/>
                  <a:ea typeface="Aptos"/>
                  <a:cs typeface="Aptos"/>
                  <a:sym typeface="Aptos"/>
                </a:rPr>
                <a:t>es economical $5 ESP32-CAMs for the field, centralizing all heavy processing on a single Pi.</a:t>
              </a:r>
            </a:p>
            <a:p>
              <a:pPr algn="l" marL="561341" indent="-280670" lvl="1">
                <a:lnSpc>
                  <a:spcPts val="3120"/>
                </a:lnSpc>
                <a:buFont typeface="Arial"/>
                <a:buChar char="•"/>
              </a:pPr>
              <a:r>
                <a:rPr lang="en-US" sz="2600">
                  <a:solidFill>
                    <a:srgbClr val="232A30"/>
                  </a:solidFill>
                  <a:latin typeface="Aptos"/>
                  <a:ea typeface="Aptos"/>
                  <a:cs typeface="Aptos"/>
                  <a:sym typeface="Aptos"/>
                </a:rPr>
                <a:t>Fault-Tolerant Design: The asynchronous Python backend instantly handles hardware or camera disconnects gracefully without crashing the system.</a:t>
              </a:r>
            </a:p>
            <a:p>
              <a:pPr algn="l">
                <a:lnSpc>
                  <a:spcPts val="3120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355597" y="538677"/>
            <a:ext cx="3313681" cy="692496"/>
            <a:chOff x="0" y="0"/>
            <a:chExt cx="4418241" cy="92332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418240" cy="923330"/>
            </a:xfrm>
            <a:custGeom>
              <a:avLst/>
              <a:gdLst/>
              <a:ahLst/>
              <a:cxnLst/>
              <a:rect r="r" b="b" t="t" l="l"/>
              <a:pathLst>
                <a:path h="923330" w="4418240">
                  <a:moveTo>
                    <a:pt x="0" y="0"/>
                  </a:moveTo>
                  <a:lnTo>
                    <a:pt x="4418240" y="0"/>
                  </a:lnTo>
                  <a:lnTo>
                    <a:pt x="4418240" y="923330"/>
                  </a:lnTo>
                  <a:lnTo>
                    <a:pt x="0" y="9233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238" r="0" b="-43238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4418241" cy="9233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14365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CODEVERSE</a:t>
              </a: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5020693" y="56617"/>
            <a:ext cx="7249984" cy="3195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</a:t>
            </a:r>
            <a:r>
              <a:rPr lang="en-US" b="true" sz="92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dea Title</a:t>
            </a:r>
          </a:p>
          <a:p>
            <a:pPr algn="ctr">
              <a:lnSpc>
                <a:spcPts val="12880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8000" y="9534525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336204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21945600" cy="2286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b="true" sz="3300" u="sng">
                  <a:solidFill>
                    <a:srgbClr val="14365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TECHNICAL APPROACH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632954" y="186547"/>
            <a:ext cx="3525955" cy="1684306"/>
            <a:chOff x="0" y="0"/>
            <a:chExt cx="4701273" cy="224574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701233" cy="2245741"/>
            </a:xfrm>
            <a:custGeom>
              <a:avLst/>
              <a:gdLst/>
              <a:ahLst/>
              <a:cxnLst/>
              <a:rect r="r" b="b" t="t" l="l"/>
              <a:pathLst>
                <a:path h="2245741" w="4701233">
                  <a:moveTo>
                    <a:pt x="0" y="0"/>
                  </a:moveTo>
                  <a:lnTo>
                    <a:pt x="4701233" y="0"/>
                  </a:lnTo>
                  <a:lnTo>
                    <a:pt x="470123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2" t="0" r="-362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-698867" y="336204"/>
            <a:ext cx="5054594" cy="692496"/>
            <a:chOff x="0" y="0"/>
            <a:chExt cx="6739458" cy="92332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739464" cy="923330"/>
            </a:xfrm>
            <a:custGeom>
              <a:avLst/>
              <a:gdLst/>
              <a:ahLst/>
              <a:cxnLst/>
              <a:rect r="r" b="b" t="t" l="l"/>
              <a:pathLst>
                <a:path h="923330" w="6739464">
                  <a:moveTo>
                    <a:pt x="0" y="0"/>
                  </a:moveTo>
                  <a:lnTo>
                    <a:pt x="6739464" y="0"/>
                  </a:lnTo>
                  <a:lnTo>
                    <a:pt x="6739464" y="923330"/>
                  </a:lnTo>
                  <a:lnTo>
                    <a:pt x="0" y="9233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2222" r="0" b="-92222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6739458" cy="9233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14365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CODEVERSE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80800" y="2050704"/>
            <a:ext cx="9901061" cy="7207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8"/>
              </a:lnSpc>
              <a:spcBef>
                <a:spcPct val="0"/>
              </a:spcBef>
            </a:pPr>
            <a:r>
              <a:rPr lang="en-US" b="true" sz="2373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1. Hardware &amp; Edge Infrastructure</a:t>
            </a:r>
          </a:p>
          <a:p>
            <a:pPr algn="l">
              <a:lnSpc>
                <a:spcPts val="2848"/>
              </a:lnSpc>
              <a:spcBef>
                <a:spcPct val="0"/>
              </a:spcBef>
            </a:pPr>
            <a:r>
              <a:rPr lang="en-US" sz="2373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Raspberry Pi 5: Central Edge-AI Server (Runs models offline).</a:t>
            </a:r>
          </a:p>
          <a:p>
            <a:pPr algn="l">
              <a:lnSpc>
                <a:spcPts val="2848"/>
              </a:lnSpc>
              <a:spcBef>
                <a:spcPct val="0"/>
              </a:spcBef>
            </a:pPr>
            <a:r>
              <a:rPr lang="en-US" sz="2373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ESP32 &amp; ESP32-CAM: Low-power microcontrollers for distributed sensor and vision nodes.</a:t>
            </a:r>
          </a:p>
          <a:p>
            <a:pPr algn="l">
              <a:lnSpc>
                <a:spcPts val="2848"/>
              </a:lnSpc>
              <a:spcBef>
                <a:spcPct val="0"/>
              </a:spcBef>
            </a:pPr>
            <a:r>
              <a:rPr lang="en-US" sz="2373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ESP-NOW: Long-range wireless communication without internet.</a:t>
            </a:r>
          </a:p>
          <a:p>
            <a:pPr algn="l">
              <a:lnSpc>
                <a:spcPts val="2848"/>
              </a:lnSpc>
              <a:spcBef>
                <a:spcPct val="0"/>
              </a:spcBef>
            </a:pPr>
            <a:r>
              <a:rPr lang="en-US" sz="2373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5V Relay: Actuator module for automated pump control.</a:t>
            </a:r>
          </a:p>
          <a:p>
            <a:pPr algn="l">
              <a:lnSpc>
                <a:spcPts val="2848"/>
              </a:lnSpc>
              <a:spcBef>
                <a:spcPct val="0"/>
              </a:spcBef>
            </a:pPr>
          </a:p>
          <a:p>
            <a:pPr algn="l">
              <a:lnSpc>
                <a:spcPts val="2848"/>
              </a:lnSpc>
              <a:spcBef>
                <a:spcPct val="0"/>
              </a:spcBef>
            </a:pPr>
            <a:r>
              <a:rPr lang="en-US" b="true" sz="2373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2. Disaster &amp; Environment Sensors</a:t>
            </a:r>
          </a:p>
          <a:p>
            <a:pPr algn="l">
              <a:lnSpc>
                <a:spcPts val="2848"/>
              </a:lnSpc>
              <a:spcBef>
                <a:spcPct val="0"/>
              </a:spcBef>
            </a:pPr>
            <a:r>
              <a:rPr lang="en-US" sz="2373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Soil Moisture &amp; DS18B20: Detects drought conditions and monitors soil temperature.</a:t>
            </a:r>
          </a:p>
          <a:p>
            <a:pPr algn="l">
              <a:lnSpc>
                <a:spcPts val="2848"/>
              </a:lnSpc>
              <a:spcBef>
                <a:spcPct val="0"/>
              </a:spcBef>
            </a:pPr>
            <a:r>
              <a:rPr lang="en-US" sz="2373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DHT22: Tracks ambient heat stress and humidity levels.</a:t>
            </a:r>
          </a:p>
          <a:p>
            <a:pPr algn="l">
              <a:lnSpc>
                <a:spcPts val="2848"/>
              </a:lnSpc>
              <a:spcBef>
                <a:spcPct val="0"/>
              </a:spcBef>
            </a:pPr>
            <a:r>
              <a:rPr lang="en-US" sz="2373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Rain &amp; Water-level Sensors: Provides early warnings for floods and waterlogging.</a:t>
            </a:r>
          </a:p>
          <a:p>
            <a:pPr algn="l">
              <a:lnSpc>
                <a:spcPts val="2848"/>
              </a:lnSpc>
              <a:spcBef>
                <a:spcPct val="0"/>
              </a:spcBef>
            </a:pPr>
          </a:p>
          <a:p>
            <a:pPr algn="l">
              <a:lnSpc>
                <a:spcPts val="2848"/>
              </a:lnSpc>
              <a:spcBef>
                <a:spcPct val="0"/>
              </a:spcBef>
            </a:pPr>
            <a:r>
              <a:rPr lang="en-US" b="true" sz="2373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3. AI &amp; Software Ecosystem</a:t>
            </a:r>
          </a:p>
          <a:p>
            <a:pPr algn="l">
              <a:lnSpc>
                <a:spcPts val="2848"/>
              </a:lnSpc>
              <a:spcBef>
                <a:spcPct val="0"/>
              </a:spcBef>
            </a:pPr>
            <a:r>
              <a:rPr lang="en-US" sz="2373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TensorFlow Lite &amp; MobileNetV2: Lightweight, high-accuracy model for classifying 38 crop diseases locally.</a:t>
            </a:r>
          </a:p>
          <a:p>
            <a:pPr algn="l">
              <a:lnSpc>
                <a:spcPts val="2848"/>
              </a:lnSpc>
              <a:spcBef>
                <a:spcPct val="0"/>
              </a:spcBef>
            </a:pPr>
            <a:r>
              <a:rPr lang="en-US" sz="2373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Python / Flask: Backend logic and local API server running on the Pi.</a:t>
            </a:r>
          </a:p>
          <a:p>
            <a:pPr algn="l">
              <a:lnSpc>
                <a:spcPts val="2848"/>
              </a:lnSpc>
              <a:spcBef>
                <a:spcPct val="0"/>
              </a:spcBef>
            </a:pPr>
            <a:r>
              <a:rPr lang="en-US" sz="2373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React Native: Cross-platform mobile dashboard for real-time farmer alerts.</a:t>
            </a:r>
          </a:p>
          <a:p>
            <a:pPr algn="l">
              <a:lnSpc>
                <a:spcPts val="2848"/>
              </a:lnSpc>
              <a:spcBef>
                <a:spcPct val="0"/>
              </a:spcBef>
            </a:pPr>
            <a:r>
              <a:rPr lang="en-US" sz="2373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C++: Firmware programming for ESP32 data acquisition and telemetry.</a:t>
            </a:r>
          </a:p>
        </p:txBody>
      </p:sp>
      <p:sp>
        <p:nvSpPr>
          <p:cNvPr name="AutoShape 19" id="19"/>
          <p:cNvSpPr/>
          <p:nvPr/>
        </p:nvSpPr>
        <p:spPr>
          <a:xfrm>
            <a:off x="9773861" y="1870952"/>
            <a:ext cx="0" cy="766357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0" id="20"/>
          <p:cNvSpPr/>
          <p:nvPr/>
        </p:nvSpPr>
        <p:spPr>
          <a:xfrm flipH="false" flipV="false" rot="0">
            <a:off x="9802436" y="2436850"/>
            <a:ext cx="8493465" cy="5831274"/>
          </a:xfrm>
          <a:custGeom>
            <a:avLst/>
            <a:gdLst/>
            <a:ahLst/>
            <a:cxnLst/>
            <a:rect r="r" b="b" t="t" l="l"/>
            <a:pathLst>
              <a:path h="5831274" w="8493465">
                <a:moveTo>
                  <a:pt x="0" y="0"/>
                </a:moveTo>
                <a:lnTo>
                  <a:pt x="8493465" y="0"/>
                </a:lnTo>
                <a:lnTo>
                  <a:pt x="8493465" y="5831273"/>
                </a:lnTo>
                <a:lnTo>
                  <a:pt x="0" y="58312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752" t="0" r="0" b="-5447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79907" y="1110701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21945600" cy="2286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14365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FEASIBILITY AND VIABILITY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651396" y="90068"/>
            <a:ext cx="3525955" cy="1684306"/>
            <a:chOff x="0" y="0"/>
            <a:chExt cx="4701273" cy="224574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701233" cy="2245741"/>
            </a:xfrm>
            <a:custGeom>
              <a:avLst/>
              <a:gdLst/>
              <a:ahLst/>
              <a:cxnLst/>
              <a:rect r="r" b="b" t="t" l="l"/>
              <a:pathLst>
                <a:path h="2245741" w="4701233">
                  <a:moveTo>
                    <a:pt x="0" y="0"/>
                  </a:moveTo>
                  <a:lnTo>
                    <a:pt x="4701233" y="0"/>
                  </a:lnTo>
                  <a:lnTo>
                    <a:pt x="470123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2" t="0" r="-362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342900" y="572633"/>
            <a:ext cx="3479797" cy="692496"/>
            <a:chOff x="0" y="0"/>
            <a:chExt cx="4639729" cy="92332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639734" cy="923330"/>
            </a:xfrm>
            <a:custGeom>
              <a:avLst/>
              <a:gdLst/>
              <a:ahLst/>
              <a:cxnLst/>
              <a:rect r="r" b="b" t="t" l="l"/>
              <a:pathLst>
                <a:path h="923330" w="4639734">
                  <a:moveTo>
                    <a:pt x="0" y="0"/>
                  </a:moveTo>
                  <a:lnTo>
                    <a:pt x="4639734" y="0"/>
                  </a:lnTo>
                  <a:lnTo>
                    <a:pt x="4639734" y="923330"/>
                  </a:lnTo>
                  <a:lnTo>
                    <a:pt x="0" y="9233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912" r="0" b="-47912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4639729" cy="9233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14365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CODEVERSE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10649" y="3365049"/>
            <a:ext cx="18177351" cy="457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36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Technical (100% Offline Edge): </a:t>
            </a:r>
            <a:r>
              <a:rPr lang="en-US" sz="30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Bypasses r</a:t>
            </a:r>
            <a:r>
              <a:rPr lang="en-US" sz="30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ural internet dependency. Uses ESP-NOW for local mesh telemetry and Raspberry Pi 5 for on-site TFLite AI inference.</a:t>
            </a:r>
          </a:p>
          <a:p>
            <a:pPr algn="l">
              <a:lnSpc>
                <a:spcPts val="3600"/>
              </a:lnSpc>
              <a:spcBef>
                <a:spcPct val="0"/>
              </a:spcBef>
            </a:pPr>
          </a:p>
          <a:p>
            <a:pPr algn="l" marL="647700" indent="-323850" lvl="1">
              <a:lnSpc>
                <a:spcPts val="36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Economic (Zero Recurring Cost):</a:t>
            </a:r>
            <a:r>
              <a:rPr lang="en-US" sz="30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Highly affordable one-time investment. Built with off-the-shelf ESP32s and completely eliminates AWS/GCP server fees.</a:t>
            </a:r>
          </a:p>
          <a:p>
            <a:pPr algn="l">
              <a:lnSpc>
                <a:spcPts val="3600"/>
              </a:lnSpc>
              <a:spcBef>
                <a:spcPct val="0"/>
              </a:spcBef>
            </a:pPr>
          </a:p>
          <a:p>
            <a:pPr algn="l" marL="647700" indent="-323850" lvl="1">
              <a:lnSpc>
                <a:spcPts val="360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Operational (Zero-Touch Automation): </a:t>
            </a:r>
            <a:r>
              <a:rPr lang="en-US" sz="30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Requires zero technical expertise from farmers. Instantly mitigates disaster via relay-triggered pumps and pushes simple, color-coded alerts to a local React Native dashboard.</a:t>
            </a:r>
          </a:p>
          <a:p>
            <a:pPr algn="l">
              <a:lnSpc>
                <a:spcPts val="36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21945600" cy="2286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14365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IMPACT AND BENEFITS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577630" y="186547"/>
            <a:ext cx="3525955" cy="1684306"/>
            <a:chOff x="0" y="0"/>
            <a:chExt cx="4701273" cy="224574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701233" cy="2245741"/>
            </a:xfrm>
            <a:custGeom>
              <a:avLst/>
              <a:gdLst/>
              <a:ahLst/>
              <a:cxnLst/>
              <a:rect r="r" b="b" t="t" l="l"/>
              <a:pathLst>
                <a:path h="2245741" w="4701233">
                  <a:moveTo>
                    <a:pt x="0" y="0"/>
                  </a:moveTo>
                  <a:lnTo>
                    <a:pt x="4701233" y="0"/>
                  </a:lnTo>
                  <a:lnTo>
                    <a:pt x="470123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2" t="0" r="-362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342900" y="840191"/>
            <a:ext cx="3556006" cy="692496"/>
            <a:chOff x="0" y="0"/>
            <a:chExt cx="4741342" cy="92332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741336" cy="923330"/>
            </a:xfrm>
            <a:custGeom>
              <a:avLst/>
              <a:gdLst/>
              <a:ahLst/>
              <a:cxnLst/>
              <a:rect r="r" b="b" t="t" l="l"/>
              <a:pathLst>
                <a:path h="923330" w="4741336">
                  <a:moveTo>
                    <a:pt x="0" y="0"/>
                  </a:moveTo>
                  <a:lnTo>
                    <a:pt x="4741336" y="0"/>
                  </a:lnTo>
                  <a:lnTo>
                    <a:pt x="4741336" y="923330"/>
                  </a:lnTo>
                  <a:lnTo>
                    <a:pt x="0" y="9233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056" r="0" b="-50056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4741342" cy="9233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14365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CODEVERSE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342900" y="2368153"/>
            <a:ext cx="17373600" cy="6438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  <a:spcBef>
                <a:spcPct val="0"/>
              </a:spcBef>
            </a:pPr>
            <a:r>
              <a:rPr lang="en-US" b="true" sz="330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Combating ₹1.4 Lakh Crore Crop Losses: </a:t>
            </a:r>
            <a:r>
              <a:rPr lang="en-US" sz="33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India loses over ₹1.4 lakh crores of crops annually to diseases, floods, and extreme weather. AgroVON's early-warning system directly mitigates this massive economic disaster.</a:t>
            </a:r>
          </a:p>
          <a:p>
            <a:pPr algn="l">
              <a:lnSpc>
                <a:spcPts val="3960"/>
              </a:lnSpc>
              <a:spcBef>
                <a:spcPct val="0"/>
              </a:spcBef>
            </a:pPr>
          </a:p>
          <a:p>
            <a:pPr algn="l">
              <a:lnSpc>
                <a:spcPts val="3960"/>
              </a:lnSpc>
              <a:spcBef>
                <a:spcPct val="0"/>
              </a:spcBef>
            </a:pPr>
            <a:r>
              <a:rPr lang="en-US" b="true" sz="330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Optimizing National Water Usage: </a:t>
            </a:r>
            <a:r>
              <a:rPr lang="en-US" sz="33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Agriculture consumes nearly 80% of India's freshwater. By delivering precise, real-time soil moisture alerts, AgroVON prevents over-watering and waterlogging, directly addressing the national water crisis.</a:t>
            </a:r>
          </a:p>
          <a:p>
            <a:pPr algn="l">
              <a:lnSpc>
                <a:spcPts val="3960"/>
              </a:lnSpc>
              <a:spcBef>
                <a:spcPct val="0"/>
              </a:spcBef>
            </a:pPr>
          </a:p>
          <a:p>
            <a:pPr algn="l">
              <a:lnSpc>
                <a:spcPts val="3960"/>
              </a:lnSpc>
              <a:spcBef>
                <a:spcPct val="0"/>
              </a:spcBef>
            </a:pPr>
            <a:r>
              <a:rPr lang="en-US" b="true" sz="330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Maximized Crop Yield: </a:t>
            </a:r>
            <a:r>
              <a:rPr lang="en-US" sz="33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Edge-AI disease classification stops fungal and pest outbreaks at the individual plant level before field-wide contamination.</a:t>
            </a:r>
          </a:p>
          <a:p>
            <a:pPr algn="l">
              <a:lnSpc>
                <a:spcPts val="3960"/>
              </a:lnSpc>
              <a:spcBef>
                <a:spcPct val="0"/>
              </a:spcBef>
            </a:pPr>
          </a:p>
          <a:p>
            <a:pPr algn="l">
              <a:lnSpc>
                <a:spcPts val="3960"/>
              </a:lnSpc>
              <a:spcBef>
                <a:spcPct val="0"/>
              </a:spcBef>
            </a:pPr>
            <a:r>
              <a:rPr lang="en-US" b="true" sz="330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Financial Independence for Farmers: </a:t>
            </a:r>
            <a:r>
              <a:rPr lang="en-US" sz="33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Protects rural livelihoods and reduces the risk of farmer debt by ensuring consistent harvests with absolutely zero recurring cloud or software costs.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63893" y="405536"/>
            <a:ext cx="17621250" cy="1835547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21945600" cy="2286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14365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RESEARCH AND REFERENCES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559188" y="163544"/>
            <a:ext cx="3525955" cy="1684306"/>
            <a:chOff x="0" y="0"/>
            <a:chExt cx="4701273" cy="224574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701233" cy="2245741"/>
            </a:xfrm>
            <a:custGeom>
              <a:avLst/>
              <a:gdLst/>
              <a:ahLst/>
              <a:cxnLst/>
              <a:rect r="r" b="b" t="t" l="l"/>
              <a:pathLst>
                <a:path h="2245741" w="4701233">
                  <a:moveTo>
                    <a:pt x="0" y="0"/>
                  </a:moveTo>
                  <a:lnTo>
                    <a:pt x="4701233" y="0"/>
                  </a:lnTo>
                  <a:lnTo>
                    <a:pt x="470123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62" t="0" r="-362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209550" y="405536"/>
            <a:ext cx="3530603" cy="600161"/>
            <a:chOff x="0" y="0"/>
            <a:chExt cx="4707471" cy="80021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707466" cy="800220"/>
            </a:xfrm>
            <a:custGeom>
              <a:avLst/>
              <a:gdLst/>
              <a:ahLst/>
              <a:cxnLst/>
              <a:rect r="r" b="b" t="t" l="l"/>
              <a:pathLst>
                <a:path h="800220" w="4707466">
                  <a:moveTo>
                    <a:pt x="0" y="0"/>
                  </a:moveTo>
                  <a:lnTo>
                    <a:pt x="4707466" y="0"/>
                  </a:lnTo>
                  <a:lnTo>
                    <a:pt x="4707466" y="800220"/>
                  </a:lnTo>
                  <a:lnTo>
                    <a:pt x="0" y="8002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4625" r="0" b="-64624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4707471" cy="8002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4365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CODEVERSE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285619" y="1847850"/>
            <a:ext cx="18002381" cy="7429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  <a:spcBef>
                <a:spcPct val="0"/>
              </a:spcBef>
            </a:pPr>
            <a:r>
              <a:rPr lang="en-US" b="true" sz="330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Agricultural Economic Impact: </a:t>
            </a:r>
            <a:r>
              <a:rPr lang="en-US" sz="33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Data on the ₹1.4 Lakh Crore annual crop loss due to extreme weather, floods, and diseases referenced from Indian Council of Agricultural Research (ICAR) and Ministry of Agriculture reports.</a:t>
            </a:r>
          </a:p>
          <a:p>
            <a:pPr algn="l">
              <a:lnSpc>
                <a:spcPts val="3960"/>
              </a:lnSpc>
              <a:spcBef>
                <a:spcPct val="0"/>
              </a:spcBef>
            </a:pPr>
          </a:p>
          <a:p>
            <a:pPr algn="l">
              <a:lnSpc>
                <a:spcPts val="3960"/>
              </a:lnSpc>
              <a:spcBef>
                <a:spcPct val="0"/>
              </a:spcBef>
            </a:pPr>
            <a:r>
              <a:rPr lang="en-US" b="true" sz="330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Water Conservation Data:</a:t>
            </a:r>
            <a:r>
              <a:rPr lang="en-US" sz="33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Statistics confirming agriculture consumes ~80% of India's freshwater sourced from NITI Aayog and World Bank water management reports.</a:t>
            </a:r>
          </a:p>
          <a:p>
            <a:pPr algn="l">
              <a:lnSpc>
                <a:spcPts val="3960"/>
              </a:lnSpc>
              <a:spcBef>
                <a:spcPct val="0"/>
              </a:spcBef>
            </a:pPr>
          </a:p>
          <a:p>
            <a:pPr algn="l">
              <a:lnSpc>
                <a:spcPts val="3960"/>
              </a:lnSpc>
              <a:spcBef>
                <a:spcPct val="0"/>
              </a:spcBef>
            </a:pPr>
            <a:r>
              <a:rPr lang="en-US" b="true" sz="330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AI Training &amp; Dataset: </a:t>
            </a:r>
            <a:r>
              <a:rPr lang="en-US" sz="33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The 38-class Edge-AI disease classification model was trained and validated using the globally recognized PlantVillage Dataset.</a:t>
            </a:r>
          </a:p>
          <a:p>
            <a:pPr algn="l">
              <a:lnSpc>
                <a:spcPts val="3960"/>
              </a:lnSpc>
              <a:spcBef>
                <a:spcPct val="0"/>
              </a:spcBef>
            </a:pPr>
          </a:p>
          <a:p>
            <a:pPr algn="l">
              <a:lnSpc>
                <a:spcPts val="3960"/>
              </a:lnSpc>
              <a:spcBef>
                <a:spcPct val="0"/>
              </a:spcBef>
            </a:pPr>
            <a:r>
              <a:rPr lang="en-US" b="true" sz="330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Edge Computing &amp; Telemetry: </a:t>
            </a:r>
            <a:r>
              <a:rPr lang="en-US" sz="33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Network and inference architecture based on official TensorFlow Lite (Edge AI deployment) and Espressif (ESP-NOW ) documentation.</a:t>
            </a:r>
          </a:p>
          <a:p>
            <a:pPr algn="l">
              <a:lnSpc>
                <a:spcPts val="3960"/>
              </a:lnSpc>
              <a:spcBef>
                <a:spcPct val="0"/>
              </a:spcBef>
            </a:pPr>
          </a:p>
          <a:p>
            <a:pPr algn="l">
              <a:lnSpc>
                <a:spcPts val="3960"/>
              </a:lnSpc>
              <a:spcBef>
                <a:spcPct val="0"/>
              </a:spcBef>
            </a:pPr>
            <a:r>
              <a:rPr lang="en-US" b="true" sz="330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Core Problem Statement: SIH26180 –</a:t>
            </a:r>
            <a:r>
              <a:rPr lang="en-US" sz="33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"Field-deployable AI-powered Smart Farming Assistant" curated by Qualcomm Inc. &amp; BlinkNBuild.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DAHU7RJ20pE</dc:identifier>
  <dcterms:modified xsi:type="dcterms:W3CDTF">2011-08-01T06:04:30Z</dcterms:modified>
  <cp:revision>1</cp:revision>
  <dc:title>•Problem Statement ID – SIH26180 •Problem Statement Title - A field-deployable AI-powered Smart Farming Assistant that helps farmers detect crop diseases, pests, nutrient deficiencies, and irrigation needs at an early stage, while improving resilience</dc:title>
</cp:coreProperties>
</file>